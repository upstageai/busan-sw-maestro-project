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3"/>
  </p:normalViewPr>
  <p:slideViewPr>
    <p:cSldViewPr snapToGrid="0" snapToObjects="1">
      <p:cViewPr varScale="1">
        <p:scale>
          <a:sx n="91" d="100"/>
          <a:sy n="91" d="100"/>
        </p:scale>
        <p:origin x="192" y="5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CASE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5400" b="1">
                <a:solidFill>
                  <a:srgbClr val="F4F4F5"/>
                </a:solidFill>
                <a:latin typeface="Malgun Gothic"/>
              </a:defRPr>
            </a:pPr>
            <a:r>
              <a:t>The Demo Day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Malgun Gothic"/>
              </a:defRPr>
            </a:pP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권한과</a:t>
            </a:r>
            <a:r>
              <a:rPr dirty="0"/>
              <a:t> </a:t>
            </a:r>
            <a:r>
              <a:rPr dirty="0" err="1"/>
              <a:t>페르소나를</a:t>
            </a:r>
            <a:r>
              <a:rPr dirty="0"/>
              <a:t> </a:t>
            </a:r>
            <a:r>
              <a:rPr dirty="0" err="1"/>
              <a:t>가진</a:t>
            </a:r>
            <a:r>
              <a:rPr dirty="0"/>
              <a:t> </a:t>
            </a:r>
            <a:r>
              <a:rPr dirty="0" err="1"/>
              <a:t>에이전트들과</a:t>
            </a:r>
            <a:r>
              <a:rPr dirty="0"/>
              <a:t> </a:t>
            </a:r>
            <a:r>
              <a:rPr dirty="0" err="1"/>
              <a:t>상호작용하며</a:t>
            </a:r>
            <a:r>
              <a:rPr dirty="0"/>
              <a:t> </a:t>
            </a:r>
            <a:r>
              <a:rPr dirty="0" err="1"/>
              <a:t>사건을</a:t>
            </a:r>
            <a:r>
              <a:rPr dirty="0"/>
              <a:t> </a:t>
            </a:r>
            <a:r>
              <a:rPr dirty="0" err="1"/>
              <a:t>해결하는</a:t>
            </a:r>
            <a:r>
              <a:rPr dirty="0"/>
              <a:t> </a:t>
            </a:r>
            <a:r>
              <a:rPr dirty="0" err="1"/>
              <a:t>추리</a:t>
            </a:r>
            <a:r>
              <a:rPr dirty="0"/>
              <a:t> </a:t>
            </a:r>
            <a:r>
              <a:rPr dirty="0" err="1"/>
              <a:t>게임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5943600" cy="118872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4589056"/>
            <a:ext cx="539496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4F4F5"/>
                </a:solidFill>
                <a:latin typeface="Malgun Gothic"/>
              </a:defRPr>
            </a:pPr>
            <a:r>
              <a:rPr lang="en-US" altLang="ko-KR" dirty="0"/>
              <a:t>27</a:t>
            </a:r>
            <a:r>
              <a:rPr lang="ko-KR" altLang="en-US" dirty="0"/>
              <a:t>조</a:t>
            </a:r>
            <a:endParaRPr lang="en-US" altLang="ko-KR" dirty="0"/>
          </a:p>
          <a:p>
            <a:pPr algn="l">
              <a:defRPr sz="1300" b="1">
                <a:solidFill>
                  <a:srgbClr val="F4F4F5"/>
                </a:solidFill>
                <a:latin typeface="Malgun Gothic"/>
              </a:defRPr>
            </a:pPr>
            <a:r>
              <a:rPr lang="ko-KR" altLang="en-US" dirty="0"/>
              <a:t>발표자</a:t>
            </a:r>
            <a:r>
              <a:rPr lang="en-US" altLang="ko-KR" dirty="0"/>
              <a:t>:</a:t>
            </a:r>
            <a:r>
              <a:rPr lang="ko-KR" altLang="en-US" dirty="0"/>
              <a:t> 정윤성</a:t>
            </a:r>
            <a:endParaRPr lang="en-US" altLang="ko-KR" dirty="0"/>
          </a:p>
          <a:p>
            <a:pPr algn="l">
              <a:defRPr sz="1300" b="1">
                <a:solidFill>
                  <a:srgbClr val="F4F4F5"/>
                </a:solidFill>
                <a:latin typeface="Malgun Gothic"/>
              </a:defRPr>
            </a:pPr>
            <a:r>
              <a:rPr lang="ko-KR" altLang="en-US" dirty="0"/>
              <a:t>팀원</a:t>
            </a:r>
            <a:r>
              <a:rPr lang="en-US" altLang="ko-KR" dirty="0"/>
              <a:t>:</a:t>
            </a:r>
            <a:r>
              <a:rPr lang="ko-KR" altLang="en-US" dirty="0"/>
              <a:t> 김창영</a:t>
            </a:r>
            <a:r>
              <a:rPr lang="en-US" altLang="ko-KR" dirty="0"/>
              <a:t>,</a:t>
            </a:r>
            <a:r>
              <a:rPr lang="ko-KR" altLang="en-US" dirty="0"/>
              <a:t> 이은성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정권호</a:t>
            </a:r>
            <a:r>
              <a:rPr lang="en-US" altLang="ko-KR" dirty="0"/>
              <a:t>,</a:t>
            </a:r>
            <a:r>
              <a:rPr lang="ko-KR" altLang="en-US" dirty="0"/>
              <a:t> 최은진</a:t>
            </a:r>
            <a:endParaRPr dirty="0"/>
          </a:p>
        </p:txBody>
      </p:sp>
      <p:pic>
        <p:nvPicPr>
          <p:cNvPr id="8" name="Picture 7" descr="deck-home.png"/>
          <p:cNvPicPr>
            <a:picLocks noChangeAspect="1"/>
          </p:cNvPicPr>
          <p:nvPr/>
        </p:nvPicPr>
        <p:blipFill>
          <a:blip r:embed="rId2"/>
          <a:srcRect l="35122" r="35331"/>
          <a:stretch>
            <a:fillRect/>
          </a:stretch>
        </p:blipFill>
        <p:spPr>
          <a:xfrm>
            <a:off x="7695211" y="306476"/>
            <a:ext cx="2952382" cy="62450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  <a:latin typeface="Malgun Gothic"/>
              </a:defRPr>
            </a:pPr>
            <a:r>
              <a:t>1. 서비스 선정 배경 및 핵심 가치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02 /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4572000" cy="347472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40233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게임의</a:t>
            </a:r>
            <a:r>
              <a:rPr dirty="0"/>
              <a:t> </a:t>
            </a:r>
            <a:r>
              <a:rPr dirty="0" err="1"/>
              <a:t>아쉬움</a:t>
            </a:r>
            <a:endParaRPr dirty="0"/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수동적인</a:t>
            </a:r>
            <a:r>
              <a:rPr dirty="0"/>
              <a:t> </a:t>
            </a:r>
            <a:r>
              <a:rPr dirty="0" err="1"/>
              <a:t>스토리라인</a:t>
            </a:r>
            <a:br>
              <a:rPr dirty="0"/>
            </a:br>
            <a:r>
              <a:rPr dirty="0"/>
              <a:t>  </a:t>
            </a:r>
            <a:r>
              <a:rPr dirty="0" err="1"/>
              <a:t>정해진</a:t>
            </a:r>
            <a:r>
              <a:rPr dirty="0"/>
              <a:t> </a:t>
            </a:r>
            <a:r>
              <a:rPr dirty="0" err="1"/>
              <a:t>선택지</a:t>
            </a:r>
            <a:r>
              <a:rPr dirty="0"/>
              <a:t> </a:t>
            </a:r>
            <a:r>
              <a:rPr dirty="0" err="1"/>
              <a:t>중</a:t>
            </a:r>
            <a:r>
              <a:rPr dirty="0"/>
              <a:t> </a:t>
            </a:r>
            <a:r>
              <a:rPr dirty="0" err="1"/>
              <a:t>하나를</a:t>
            </a:r>
            <a:r>
              <a:rPr dirty="0"/>
              <a:t> </a:t>
            </a:r>
            <a:r>
              <a:rPr dirty="0" err="1"/>
              <a:t>골라가며</a:t>
            </a:r>
            <a:r>
              <a:rPr dirty="0"/>
              <a:t> </a:t>
            </a:r>
            <a:r>
              <a:rPr dirty="0" err="1"/>
              <a:t>추리를</a:t>
            </a:r>
            <a:r>
              <a:rPr dirty="0"/>
              <a:t> </a:t>
            </a:r>
            <a:r>
              <a:rPr dirty="0" err="1"/>
              <a:t>진행해야</a:t>
            </a:r>
            <a:r>
              <a:rPr dirty="0"/>
              <a:t> </a:t>
            </a:r>
            <a:r>
              <a:rPr dirty="0" err="1"/>
              <a:t>하기에</a:t>
            </a:r>
            <a:r>
              <a:rPr dirty="0"/>
              <a:t> </a:t>
            </a:r>
            <a:r>
              <a:rPr dirty="0" err="1"/>
              <a:t>플레이어가</a:t>
            </a:r>
            <a:r>
              <a:rPr dirty="0"/>
              <a:t> </a:t>
            </a:r>
            <a:r>
              <a:rPr dirty="0" err="1"/>
              <a:t>스스로</a:t>
            </a:r>
            <a:r>
              <a:rPr dirty="0"/>
              <a:t> </a:t>
            </a:r>
            <a:r>
              <a:rPr dirty="0" err="1"/>
              <a:t>생각하기보다</a:t>
            </a:r>
            <a:r>
              <a:rPr dirty="0"/>
              <a:t> </a:t>
            </a:r>
            <a:r>
              <a:rPr dirty="0" err="1"/>
              <a:t>짜인</a:t>
            </a:r>
            <a:r>
              <a:rPr dirty="0"/>
              <a:t> </a:t>
            </a:r>
            <a:r>
              <a:rPr dirty="0" err="1"/>
              <a:t>스토리를</a:t>
            </a:r>
            <a:r>
              <a:rPr dirty="0"/>
              <a:t> </a:t>
            </a:r>
            <a:r>
              <a:rPr dirty="0" err="1"/>
              <a:t>수동적으로</a:t>
            </a:r>
            <a:r>
              <a:rPr dirty="0"/>
              <a:t> </a:t>
            </a:r>
            <a:r>
              <a:rPr dirty="0" err="1"/>
              <a:t>따라가는</a:t>
            </a:r>
            <a:r>
              <a:rPr dirty="0"/>
              <a:t> </a:t>
            </a:r>
            <a:r>
              <a:rPr dirty="0" err="1"/>
              <a:t>한계가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단순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전달자</a:t>
            </a:r>
            <a:br>
              <a:rPr dirty="0"/>
            </a:br>
            <a:r>
              <a:rPr dirty="0"/>
              <a:t>  </a:t>
            </a:r>
            <a:r>
              <a:rPr dirty="0" err="1"/>
              <a:t>최근</a:t>
            </a:r>
            <a:r>
              <a:rPr dirty="0"/>
              <a:t> AI </a:t>
            </a:r>
            <a:r>
              <a:rPr dirty="0" err="1"/>
              <a:t>에이전트를</a:t>
            </a:r>
            <a:r>
              <a:rPr dirty="0"/>
              <a:t> </a:t>
            </a:r>
            <a:r>
              <a:rPr dirty="0" err="1"/>
              <a:t>도입한</a:t>
            </a:r>
            <a:r>
              <a:rPr dirty="0"/>
              <a:t> </a:t>
            </a:r>
            <a:r>
              <a:rPr dirty="0" err="1"/>
              <a:t>추리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역시</a:t>
            </a:r>
            <a:r>
              <a:rPr dirty="0"/>
              <a:t> </a:t>
            </a:r>
            <a:r>
              <a:rPr dirty="0" err="1"/>
              <a:t>에이전트들이</a:t>
            </a:r>
            <a:r>
              <a:rPr dirty="0"/>
              <a:t> </a:t>
            </a:r>
            <a:r>
              <a:rPr dirty="0" err="1"/>
              <a:t>단순히</a:t>
            </a:r>
            <a:r>
              <a:rPr dirty="0"/>
              <a:t> </a:t>
            </a:r>
            <a:r>
              <a:rPr dirty="0" err="1"/>
              <a:t>단서를</a:t>
            </a:r>
            <a:r>
              <a:rPr dirty="0"/>
              <a:t> </a:t>
            </a:r>
            <a:r>
              <a:rPr dirty="0" err="1"/>
              <a:t>보관하고</a:t>
            </a:r>
            <a:r>
              <a:rPr dirty="0"/>
              <a:t> </a:t>
            </a:r>
            <a:r>
              <a:rPr dirty="0" err="1"/>
              <a:t>일방적으로</a:t>
            </a:r>
            <a:r>
              <a:rPr dirty="0"/>
              <a:t> </a:t>
            </a:r>
            <a:r>
              <a:rPr dirty="0" err="1"/>
              <a:t>전달하는</a:t>
            </a:r>
            <a:r>
              <a:rPr dirty="0"/>
              <a:t> </a:t>
            </a:r>
            <a:r>
              <a:rPr dirty="0" err="1"/>
              <a:t>단순</a:t>
            </a:r>
            <a:r>
              <a:rPr dirty="0"/>
              <a:t> </a:t>
            </a:r>
            <a:r>
              <a:rPr dirty="0" err="1"/>
              <a:t>도구</a:t>
            </a:r>
            <a:r>
              <a:rPr dirty="0"/>
              <a:t> </a:t>
            </a:r>
            <a:r>
              <a:rPr dirty="0" err="1"/>
              <a:t>역할에</a:t>
            </a:r>
            <a:r>
              <a:rPr dirty="0"/>
              <a:t> </a:t>
            </a:r>
            <a:r>
              <a:rPr dirty="0" err="1"/>
              <a:t>머무르고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737360"/>
            <a:ext cx="4572000" cy="347472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40233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서비스의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가치</a:t>
            </a:r>
            <a:endParaRPr dirty="0"/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능동적인</a:t>
            </a:r>
            <a:r>
              <a:rPr dirty="0"/>
              <a:t> </a:t>
            </a:r>
            <a:r>
              <a:rPr dirty="0" err="1"/>
              <a:t>불완전</a:t>
            </a:r>
            <a:r>
              <a:rPr dirty="0"/>
              <a:t> </a:t>
            </a:r>
            <a:r>
              <a:rPr dirty="0" err="1"/>
              <a:t>추리자</a:t>
            </a:r>
            <a:br>
              <a:rPr dirty="0"/>
            </a:br>
            <a:r>
              <a:rPr dirty="0"/>
              <a:t>  </a:t>
            </a:r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에이전트들이</a:t>
            </a:r>
            <a:r>
              <a:rPr dirty="0"/>
              <a:t> </a:t>
            </a:r>
            <a:r>
              <a:rPr dirty="0" err="1"/>
              <a:t>자신에게</a:t>
            </a:r>
            <a:r>
              <a:rPr dirty="0"/>
              <a:t> </a:t>
            </a:r>
            <a:r>
              <a:rPr dirty="0" err="1"/>
              <a:t>할당된</a:t>
            </a:r>
            <a:r>
              <a:rPr dirty="0"/>
              <a:t> </a:t>
            </a:r>
            <a:r>
              <a:rPr dirty="0" err="1"/>
              <a:t>고유한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권한과</a:t>
            </a:r>
            <a:r>
              <a:rPr dirty="0"/>
              <a:t> </a:t>
            </a:r>
            <a:r>
              <a:rPr dirty="0" err="1"/>
              <a:t>페르소나만을</a:t>
            </a:r>
            <a:r>
              <a:rPr dirty="0"/>
              <a:t> </a:t>
            </a:r>
            <a:r>
              <a:rPr dirty="0" err="1"/>
              <a:t>바탕으로</a:t>
            </a:r>
            <a:r>
              <a:rPr dirty="0"/>
              <a:t> </a:t>
            </a:r>
            <a:r>
              <a:rPr dirty="0" err="1"/>
              <a:t>사건을</a:t>
            </a:r>
            <a:r>
              <a:rPr dirty="0"/>
              <a:t> </a:t>
            </a:r>
            <a:r>
              <a:rPr dirty="0" err="1"/>
              <a:t>해석하며</a:t>
            </a:r>
            <a:r>
              <a:rPr dirty="0"/>
              <a:t>, </a:t>
            </a:r>
            <a:r>
              <a:rPr dirty="0" err="1"/>
              <a:t>서로를</a:t>
            </a:r>
            <a:r>
              <a:rPr dirty="0"/>
              <a:t> </a:t>
            </a:r>
            <a:r>
              <a:rPr dirty="0" err="1"/>
              <a:t>능동적으로</a:t>
            </a:r>
            <a:r>
              <a:rPr dirty="0"/>
              <a:t> </a:t>
            </a:r>
            <a:r>
              <a:rPr dirty="0" err="1"/>
              <a:t>의심하고</a:t>
            </a:r>
            <a:r>
              <a:rPr dirty="0"/>
              <a:t> </a:t>
            </a:r>
            <a:r>
              <a:rPr dirty="0" err="1"/>
              <a:t>불완전한</a:t>
            </a:r>
            <a:r>
              <a:rPr dirty="0"/>
              <a:t> </a:t>
            </a:r>
            <a:r>
              <a:rPr dirty="0" err="1"/>
              <a:t>추리를</a:t>
            </a:r>
            <a:r>
              <a:rPr dirty="0"/>
              <a:t> </a:t>
            </a:r>
            <a:r>
              <a:rPr dirty="0" err="1"/>
              <a:t>전개합니다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진짜</a:t>
            </a:r>
            <a:r>
              <a:rPr dirty="0"/>
              <a:t> </a:t>
            </a:r>
            <a:r>
              <a:rPr dirty="0" err="1"/>
              <a:t>근거를</a:t>
            </a:r>
            <a:r>
              <a:rPr dirty="0"/>
              <a:t> </a:t>
            </a:r>
            <a:r>
              <a:rPr dirty="0" err="1"/>
              <a:t>가려내는</a:t>
            </a:r>
            <a:r>
              <a:rPr dirty="0"/>
              <a:t> </a:t>
            </a:r>
            <a:r>
              <a:rPr dirty="0" err="1"/>
              <a:t>재미</a:t>
            </a:r>
            <a:br>
              <a:rPr dirty="0"/>
            </a:br>
            <a:r>
              <a:rPr dirty="0"/>
              <a:t>  </a:t>
            </a:r>
            <a:r>
              <a:rPr dirty="0" err="1"/>
              <a:t>이들의</a:t>
            </a:r>
            <a:r>
              <a:rPr dirty="0"/>
              <a:t> </a:t>
            </a:r>
            <a:r>
              <a:rPr dirty="0" err="1"/>
              <a:t>그럴듯한</a:t>
            </a:r>
            <a:r>
              <a:rPr dirty="0"/>
              <a:t> </a:t>
            </a:r>
            <a:r>
              <a:rPr dirty="0" err="1"/>
              <a:t>주장</a:t>
            </a:r>
            <a:r>
              <a:rPr dirty="0"/>
              <a:t> </a:t>
            </a:r>
            <a:r>
              <a:rPr dirty="0" err="1"/>
              <a:t>속</a:t>
            </a:r>
            <a:r>
              <a:rPr dirty="0"/>
              <a:t> </a:t>
            </a:r>
            <a:r>
              <a:rPr dirty="0" err="1"/>
              <a:t>모순과</a:t>
            </a:r>
            <a:r>
              <a:rPr dirty="0"/>
              <a:t> </a:t>
            </a:r>
            <a:r>
              <a:rPr dirty="0" err="1"/>
              <a:t>객관적</a:t>
            </a:r>
            <a:r>
              <a:rPr dirty="0"/>
              <a:t> </a:t>
            </a:r>
            <a:r>
              <a:rPr dirty="0" err="1"/>
              <a:t>로그</a:t>
            </a:r>
            <a:r>
              <a:rPr dirty="0"/>
              <a:t> </a:t>
            </a:r>
            <a:r>
              <a:rPr dirty="0" err="1"/>
              <a:t>단서를</a:t>
            </a:r>
            <a:r>
              <a:rPr dirty="0"/>
              <a:t> </a:t>
            </a:r>
            <a:r>
              <a:rPr dirty="0" err="1"/>
              <a:t>대조하여</a:t>
            </a:r>
            <a:r>
              <a:rPr dirty="0"/>
              <a:t> </a:t>
            </a:r>
            <a:r>
              <a:rPr dirty="0" err="1"/>
              <a:t>플레이어가</a:t>
            </a:r>
            <a:r>
              <a:rPr dirty="0"/>
              <a:t> </a:t>
            </a:r>
            <a:r>
              <a:rPr dirty="0" err="1"/>
              <a:t>스스로</a:t>
            </a:r>
            <a:r>
              <a:rPr dirty="0"/>
              <a:t> </a:t>
            </a:r>
            <a:r>
              <a:rPr dirty="0" err="1"/>
              <a:t>진짜</a:t>
            </a:r>
            <a:r>
              <a:rPr dirty="0"/>
              <a:t> </a:t>
            </a:r>
            <a:r>
              <a:rPr dirty="0" err="1"/>
              <a:t>증거를</a:t>
            </a:r>
            <a:r>
              <a:rPr dirty="0"/>
              <a:t> </a:t>
            </a:r>
            <a:r>
              <a:rPr dirty="0" err="1"/>
              <a:t>가려내는</a:t>
            </a:r>
            <a:r>
              <a:rPr dirty="0"/>
              <a:t> </a:t>
            </a:r>
            <a:r>
              <a:rPr dirty="0" err="1"/>
              <a:t>추리</a:t>
            </a:r>
            <a:r>
              <a:rPr dirty="0"/>
              <a:t> </a:t>
            </a:r>
            <a:r>
              <a:rPr dirty="0" err="1"/>
              <a:t>본연의</a:t>
            </a:r>
            <a:r>
              <a:rPr dirty="0"/>
              <a:t> </a:t>
            </a:r>
            <a:r>
              <a:rPr dirty="0" err="1"/>
              <a:t>재미를</a:t>
            </a:r>
            <a:r>
              <a:rPr dirty="0"/>
              <a:t> </a:t>
            </a:r>
            <a:r>
              <a:rPr dirty="0" err="1"/>
              <a:t>선사합니다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F4F4F5"/>
                </a:solidFill>
                <a:latin typeface="Malgun Gothic"/>
              </a:defRPr>
            </a:pPr>
            <a:r>
              <a:t>"AI가 범인을 맞히는 게임이 아니라, 플레이어가 AI의 추리를 의심하는 게임"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  <a:latin typeface="Malgun Gothic"/>
              </a:defRPr>
            </a:pPr>
            <a:r>
              <a:t>2. 서비스 핵심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03 /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5943600" cy="109728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F4F5"/>
                </a:solidFill>
                <a:latin typeface="Malgun Gothic"/>
              </a:defRPr>
            </a:pPr>
            <a:r>
              <a:t>1. 사건 접속 &amp; 단서 확보</a:t>
            </a:r>
          </a:p>
          <a:p>
            <a:pPr>
              <a:lnSpc>
                <a:spcPct val="130000"/>
              </a:lnSpc>
              <a:defRPr sz="1050">
                <a:solidFill>
                  <a:srgbClr val="9CA3AF"/>
                </a:solidFill>
                <a:latin typeface="Malgun Gothic"/>
              </a:defRPr>
            </a:pPr>
            <a:r>
              <a:t>데모데이 전날 밤 연수생 의문사 현장 접속 및 서버 로그, 삭제 기록 등의 단서 잠금 해제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08960"/>
            <a:ext cx="5943600" cy="109728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F4F5"/>
                </a:solidFill>
                <a:latin typeface="Malgun Gothic"/>
              </a:defRPr>
            </a:pPr>
            <a:r>
              <a:t>2. 실시간 에이전트 심문</a:t>
            </a:r>
          </a:p>
          <a:p>
            <a:pPr>
              <a:lnSpc>
                <a:spcPct val="130000"/>
              </a:lnSpc>
              <a:defRPr sz="1050">
                <a:solidFill>
                  <a:srgbClr val="9CA3AF"/>
                </a:solidFill>
                <a:latin typeface="Malgun Gothic"/>
              </a:defRPr>
            </a:pPr>
            <a:r>
              <a:t>해금한 단서를 기반으로 용의자 에이전트들과 자유로운 채팅 대화로 진술 및 모순 포착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80560"/>
            <a:ext cx="5943600" cy="109728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53949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F4F5"/>
                </a:solidFill>
                <a:latin typeface="Malgun Gothic"/>
              </a:defRPr>
            </a:pPr>
            <a:r>
              <a:t>3. 추리 제출 및 판정</a:t>
            </a:r>
          </a:p>
          <a:p>
            <a:pPr>
              <a:lnSpc>
                <a:spcPct val="130000"/>
              </a:lnSpc>
              <a:defRPr sz="1050">
                <a:solidFill>
                  <a:srgbClr val="9CA3AF"/>
                </a:solidFill>
                <a:latin typeface="Malgun Gothic"/>
              </a:defRPr>
            </a:pPr>
            <a:r>
              <a:t>단서와 주장을 비교해 범인(오케스트레이터 ARIA), 동기, 핵심 증거를 최종 제출하여 성공 판정 피드백 수신</a:t>
            </a:r>
          </a:p>
        </p:txBody>
      </p:sp>
      <p:pic>
        <p:nvPicPr>
          <p:cNvPr id="12" name="Picture 11" descr="deck-main.png"/>
          <p:cNvPicPr>
            <a:picLocks noChangeAspect="1"/>
          </p:cNvPicPr>
          <p:nvPr/>
        </p:nvPicPr>
        <p:blipFill>
          <a:blip r:embed="rId2"/>
          <a:srcRect l="34933" r="34912"/>
          <a:stretch>
            <a:fillRect/>
          </a:stretch>
        </p:blipFill>
        <p:spPr>
          <a:xfrm>
            <a:off x="7362702" y="271536"/>
            <a:ext cx="3045525" cy="63121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  <a:latin typeface="Malgun Gothic"/>
              </a:defRPr>
            </a:pPr>
            <a:r>
              <a:rPr dirty="0"/>
              <a:t>3. Agent Workflow </a:t>
            </a:r>
            <a:r>
              <a:rPr dirty="0" err="1"/>
              <a:t>기획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구성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04 /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5486400" cy="192024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t>지식 필터링 (Knowledge Filtering)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용의자 에이전트 지식 중 플레이어가 게임 진행을 통해 실제로 해금한 단서(context_clues)만 LLM 프롬프트에 동적으로 바인딩하여 주입합니다. 이를 통해 용의자가 자신의 정보 권한을 넘는 발언을 하지 못하도록 설계했습니다.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5486400" cy="192024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t>실제 구현된 스포일러 가드 (Spoiler Guard)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용의자가 대답하는 과정에서 미해금 단서(locked_clues)의 이름이나 핵심 키워드를 스포일러하는지 검사합니다. 유출 감지 시 안전한 우회 답변("지금 확인된 정보만으로는...")으로 즉시 강제 대체하는 필터가 실제로 연동되어 동작합니다. (backend/agents/guard.py)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737360"/>
            <a:ext cx="411480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사용자 입력 &amp; 캐릭터 ID 수신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423160"/>
            <a:ext cx="411480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해금 정보 대조 및 지식 필터링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88036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108960"/>
            <a:ext cx="411480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페르소나 기반 LLM 답변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56616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794760"/>
            <a:ext cx="4114800" cy="457200"/>
          </a:xfrm>
          <a:prstGeom prst="roundRect">
            <a:avLst/>
          </a:prstGeom>
          <a:solidFill>
            <a:srgbClr val="190C0E"/>
          </a:solidFill>
          <a:ln w="19050">
            <a:solidFill>
              <a:srgbClr val="FF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3347"/>
                </a:solidFill>
                <a:latin typeface="Malgun Gothic"/>
              </a:defRPr>
            </a:pPr>
            <a:r>
              <a:t>스포일러 가드 (Spoiler Guard) 검사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25196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3347"/>
                </a:solidFill>
                <a:latin typeface="Malgun Gothic"/>
              </a:defRPr>
            </a:pPr>
            <a:r>
              <a:rPr dirty="0"/>
              <a:t>↙ [</a:t>
            </a:r>
            <a:r>
              <a:rPr dirty="0" err="1"/>
              <a:t>유출</a:t>
            </a:r>
            <a:r>
              <a:rPr dirty="0"/>
              <a:t> </a:t>
            </a:r>
            <a:r>
              <a:rPr dirty="0" err="1"/>
              <a:t>감지</a:t>
            </a:r>
            <a:r>
              <a:rPr dirty="0"/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25196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9CA3AF"/>
                </a:solidFill>
                <a:latin typeface="Malgun Gothic"/>
              </a:defRPr>
            </a:pPr>
            <a:r>
              <a:t>[안전함] 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480560"/>
            <a:ext cx="201168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우회형 답변 대체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480560"/>
            <a:ext cx="201168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원문 진술 반환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93776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5166360"/>
            <a:ext cx="4114800" cy="4572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4F4F5"/>
                </a:solidFill>
                <a:latin typeface="Malgun Gothic"/>
              </a:defRPr>
            </a:pPr>
            <a:r>
              <a:t>최종 응답 반환 및 대화 DB 저장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  <a:latin typeface="Malgun Gothic"/>
              </a:defRPr>
            </a:pPr>
            <a:r>
              <a:t>4. 발전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05 /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3017520" cy="41148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6517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rPr dirty="0" err="1"/>
              <a:t>자율적인</a:t>
            </a:r>
            <a:r>
              <a:rPr dirty="0"/>
              <a:t> </a:t>
            </a:r>
            <a:r>
              <a:rPr dirty="0" err="1"/>
              <a:t>상호</a:t>
            </a:r>
            <a:r>
              <a:rPr dirty="0"/>
              <a:t> </a:t>
            </a:r>
            <a:r>
              <a:rPr dirty="0" err="1"/>
              <a:t>소통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에이전트</a:t>
            </a:r>
            <a:r>
              <a:rPr dirty="0"/>
              <a:t> </a:t>
            </a:r>
            <a:r>
              <a:rPr dirty="0" err="1"/>
              <a:t>간</a:t>
            </a:r>
            <a:r>
              <a:rPr dirty="0"/>
              <a:t> </a:t>
            </a:r>
            <a:r>
              <a:rPr dirty="0" err="1"/>
              <a:t>소통</a:t>
            </a:r>
            <a:br>
              <a:rPr dirty="0"/>
            </a:br>
            <a:r>
              <a:rPr dirty="0"/>
              <a:t>  </a:t>
            </a:r>
            <a:r>
              <a:rPr dirty="0" err="1"/>
              <a:t>플레이어의</a:t>
            </a:r>
            <a:r>
              <a:rPr dirty="0"/>
              <a:t> </a:t>
            </a:r>
            <a:r>
              <a:rPr dirty="0" err="1"/>
              <a:t>개입</a:t>
            </a:r>
            <a:r>
              <a:rPr dirty="0"/>
              <a:t> </a:t>
            </a:r>
            <a:r>
              <a:rPr dirty="0" err="1"/>
              <a:t>없이도</a:t>
            </a:r>
            <a:r>
              <a:rPr dirty="0"/>
              <a:t> </a:t>
            </a:r>
            <a:r>
              <a:rPr dirty="0" err="1"/>
              <a:t>에이전트들끼리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교환하고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대화하여</a:t>
            </a:r>
            <a:r>
              <a:rPr dirty="0"/>
              <a:t> </a:t>
            </a:r>
            <a:r>
              <a:rPr dirty="0" err="1"/>
              <a:t>상황과</a:t>
            </a:r>
            <a:r>
              <a:rPr dirty="0"/>
              <a:t> </a:t>
            </a:r>
            <a:r>
              <a:rPr dirty="0" err="1"/>
              <a:t>추리가</a:t>
            </a:r>
            <a:r>
              <a:rPr dirty="0"/>
              <a:t> </a:t>
            </a:r>
            <a:r>
              <a:rPr dirty="0" err="1"/>
              <a:t>실시간으로</a:t>
            </a:r>
            <a:r>
              <a:rPr dirty="0"/>
              <a:t> </a:t>
            </a:r>
            <a:r>
              <a:rPr dirty="0" err="1"/>
              <a:t>역동적으로</a:t>
            </a:r>
            <a:r>
              <a:rPr dirty="0"/>
              <a:t> </a:t>
            </a:r>
            <a:r>
              <a:rPr dirty="0" err="1"/>
              <a:t>변화하는</a:t>
            </a:r>
            <a:r>
              <a:rPr dirty="0"/>
              <a:t> </a:t>
            </a:r>
            <a:r>
              <a:rPr dirty="0" err="1"/>
              <a:t>한층</a:t>
            </a:r>
            <a:r>
              <a:rPr dirty="0"/>
              <a:t> </a:t>
            </a:r>
            <a:r>
              <a:rPr dirty="0" err="1"/>
              <a:t>더</a:t>
            </a:r>
            <a:r>
              <a:rPr dirty="0"/>
              <a:t> </a:t>
            </a:r>
            <a:r>
              <a:rPr dirty="0" err="1"/>
              <a:t>복잡한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환경을</a:t>
            </a:r>
            <a:r>
              <a:rPr dirty="0"/>
              <a:t> </a:t>
            </a:r>
            <a:r>
              <a:rPr dirty="0" err="1"/>
              <a:t>구축합니다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전이</a:t>
            </a:r>
            <a:br>
              <a:rPr dirty="0"/>
            </a:br>
            <a:r>
              <a:rPr dirty="0"/>
              <a:t> 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에이전트의</a:t>
            </a:r>
            <a:r>
              <a:rPr dirty="0"/>
              <a:t> </a:t>
            </a:r>
            <a:r>
              <a:rPr dirty="0" err="1"/>
              <a:t>비밀이</a:t>
            </a:r>
            <a:r>
              <a:rPr dirty="0"/>
              <a:t> </a:t>
            </a:r>
            <a:r>
              <a:rPr dirty="0" err="1"/>
              <a:t>누설되면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에이전트가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인지해</a:t>
            </a:r>
            <a:r>
              <a:rPr dirty="0"/>
              <a:t> </a:t>
            </a:r>
            <a:r>
              <a:rPr dirty="0" err="1"/>
              <a:t>대화</a:t>
            </a:r>
            <a:r>
              <a:rPr dirty="0"/>
              <a:t> </a:t>
            </a:r>
            <a:r>
              <a:rPr dirty="0" err="1"/>
              <a:t>내용에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반영되는</a:t>
            </a:r>
            <a:r>
              <a:rPr dirty="0"/>
              <a:t> </a:t>
            </a:r>
            <a:r>
              <a:rPr dirty="0" err="1"/>
              <a:t>시스템을</a:t>
            </a:r>
            <a:r>
              <a:rPr dirty="0"/>
              <a:t> </a:t>
            </a:r>
            <a:r>
              <a:rPr dirty="0" err="1"/>
              <a:t>구현합니다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737360"/>
            <a:ext cx="3017520" cy="41148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26517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F4F5"/>
                </a:solidFill>
                <a:latin typeface="Malgun Gothic"/>
              </a:defRPr>
            </a:pPr>
            <a:r>
              <a:t>시나리오 자동화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• Agentic Workflow</a:t>
            </a:r>
            <a:br/>
            <a:r>
              <a:t>  이번 사건의 완성도 높은 시나리오 제작 프로세스를 템플릿화하여 시나리오 생성 에이전트를 구축합니다.</a:t>
            </a:r>
            <a:br/>
            <a:br/>
            <a:r>
              <a:t>• 완전 자동 시나리오 시스템</a:t>
            </a:r>
            <a:br/>
            <a:r>
              <a:t>  사건의 전말, 단서 배치, 용의자 정보 권한 및 상반된 알리바이까지 자동으로 완벽하게 빌드 및 배포되는 게임 시나리오 파이프라인을 기획 및 설계합니다.</a:t>
            </a:r>
          </a:p>
        </p:txBody>
      </p:sp>
      <p:pic>
        <p:nvPicPr>
          <p:cNvPr id="10" name="Picture 9" descr="deck-character-chat.png"/>
          <p:cNvPicPr>
            <a:picLocks noChangeAspect="1"/>
          </p:cNvPicPr>
          <p:nvPr/>
        </p:nvPicPr>
        <p:blipFill>
          <a:blip r:embed="rId2"/>
          <a:srcRect l="34851" r="35184"/>
          <a:stretch>
            <a:fillRect/>
          </a:stretch>
        </p:blipFill>
        <p:spPr>
          <a:xfrm>
            <a:off x="7716129" y="752425"/>
            <a:ext cx="2708031" cy="5648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3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525866"/>
                </a:solidFill>
                <a:latin typeface="Malgun Gothic"/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F4F4F5"/>
                </a:solidFill>
                <a:latin typeface="Malgun Gothic"/>
              </a:defRPr>
            </a:pPr>
            <a:r>
              <a:t>5. Agent Workflow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525866"/>
                </a:solidFill>
                <a:latin typeface="Malgun Gothic"/>
              </a:defRPr>
            </a:pPr>
            <a:r>
              <a:t>06 /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5486400" cy="9144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F4F5"/>
                </a:solidFill>
                <a:latin typeface="Malgun Gothic"/>
              </a:defRPr>
            </a:pPr>
            <a:r>
              <a:t>현장 접속 및 조사</a:t>
            </a:r>
          </a:p>
          <a:p>
            <a:pPr>
              <a:lnSpc>
                <a:spcPct val="130000"/>
              </a:lnSpc>
              <a:defRPr sz="1000">
                <a:solidFill>
                  <a:srgbClr val="9CA3AF"/>
                </a:solidFill>
                <a:latin typeface="Malgun Gothic"/>
              </a:defRPr>
            </a:pPr>
            <a:r>
              <a:t>오케스트레이터의 이상 개입 정황 발견 후 용의자 에이전트 심문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39"/>
            <a:ext cx="5486400" cy="9144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971799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F4F5"/>
                </a:solidFill>
                <a:latin typeface="Malgun Gothic"/>
              </a:defRPr>
            </a:pPr>
            <a:r>
              <a:t>에이전트 모순 진술</a:t>
            </a:r>
          </a:p>
          <a:p>
            <a:pPr>
              <a:lnSpc>
                <a:spcPct val="130000"/>
              </a:lnSpc>
              <a:defRPr sz="1000">
                <a:solidFill>
                  <a:srgbClr val="9CA3AF"/>
                </a:solidFill>
                <a:latin typeface="Malgun Gothic"/>
              </a:defRPr>
            </a:pPr>
            <a:r>
              <a:t>각자의 시스템 권한 범위에서 서로 다른 주장을 하는 모순 포착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5486400" cy="91440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F4F5"/>
                </a:solidFill>
                <a:latin typeface="Malgun Gothic"/>
              </a:defRPr>
            </a:pPr>
            <a:r>
              <a:t>최종 범인 제출</a:t>
            </a:r>
          </a:p>
          <a:p>
            <a:pPr>
              <a:lnSpc>
                <a:spcPct val="130000"/>
              </a:lnSpc>
              <a:defRPr sz="1000">
                <a:solidFill>
                  <a:srgbClr val="9CA3AF"/>
                </a:solidFill>
                <a:latin typeface="Malgun Gothic"/>
              </a:defRPr>
            </a:pPr>
            <a:r>
              <a:t>시스템 오케스트레이터 ARIA를 지목하고 성공 판정 피드백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29200"/>
            <a:ext cx="5486400" cy="1005840"/>
          </a:xfrm>
          <a:prstGeom prst="roundRect">
            <a:avLst/>
          </a:prstGeom>
          <a:solidFill>
            <a:srgbClr val="08090B"/>
          </a:solidFill>
          <a:ln w="12700">
            <a:solidFill>
              <a:srgbClr val="252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lay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07492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03120" y="5166360"/>
            <a:ext cx="4114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F4F5"/>
                </a:solidFill>
                <a:latin typeface="Malgun Gothic"/>
              </a:defRPr>
            </a:pPr>
            <a:r>
              <a:t>지금 바로 플레이</a:t>
            </a:r>
          </a:p>
          <a:p>
            <a:pPr>
              <a:lnSpc>
                <a:spcPct val="130000"/>
              </a:lnSpc>
              <a:defRPr sz="1100">
                <a:solidFill>
                  <a:srgbClr val="9CA3AF"/>
                </a:solidFill>
                <a:latin typeface="Malgun Gothic"/>
              </a:defRPr>
            </a:pPr>
            <a:r>
              <a:t>frontend-plum-seven-77.vercel.app</a:t>
            </a:r>
          </a:p>
        </p:txBody>
      </p:sp>
      <p:pic>
        <p:nvPicPr>
          <p:cNvPr id="14" name="agent-workflow-dem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92761" y="253218"/>
            <a:ext cx="3696638" cy="63304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576</Words>
  <Application>Microsoft Macintosh PowerPoint</Application>
  <PresentationFormat>Widescreen</PresentationFormat>
  <Paragraphs>62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정윤성</cp:lastModifiedBy>
  <cp:revision>3</cp:revision>
  <dcterms:created xsi:type="dcterms:W3CDTF">2013-01-27T09:14:16Z</dcterms:created>
  <dcterms:modified xsi:type="dcterms:W3CDTF">2026-06-10T11:07:55Z</dcterms:modified>
  <cp:category/>
</cp:coreProperties>
</file>